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9" r:id="rId14"/>
    <p:sldId id="268" r:id="rId15"/>
    <p:sldId id="271" r:id="rId16"/>
    <p:sldId id="273" r:id="rId17"/>
    <p:sldId id="272" r:id="rId18"/>
    <p:sldId id="274" r:id="rId19"/>
    <p:sldId id="267" r:id="rId20"/>
  </p:sldIdLst>
  <p:sldSz cx="12192000" cy="6858000"/>
  <p:notesSz cx="6858000" cy="12192000"/>
  <p:embeddedFontLst>
    <p:embeddedFont>
      <p:font typeface="Marcellus" panose="020B0604020202020204" charset="0"/>
      <p:regular r:id="rId22"/>
    </p:embeddedFont>
    <p:embeddedFont>
      <p:font typeface="Montserrat" panose="00000500000000000000" pitchFamily="2" charset="0"/>
      <p:regular r:id="rId23"/>
      <p:bold r:id="rId24"/>
    </p:embeddedFont>
    <p:embeddedFont>
      <p:font typeface="Montserrat Bold" panose="00000800000000000000" pitchFamily="2" charset="0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732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4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1418530"/>
            <a:ext cx="6296860" cy="141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FusionPay- Finance Management System</a:t>
            </a:r>
            <a:endParaRPr lang="en-US" sz="4250" dirty="0"/>
          </a:p>
        </p:txBody>
      </p:sp>
      <p:sp>
        <p:nvSpPr>
          <p:cNvPr id="5" name="Text 1"/>
          <p:cNvSpPr/>
          <p:nvPr/>
        </p:nvSpPr>
        <p:spPr>
          <a:xfrm>
            <a:off x="5233360" y="3114873"/>
            <a:ext cx="6296860" cy="2324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Spring Boot Microservices &amp; Angular</a:t>
            </a:r>
            <a:endParaRPr lang="en-US" sz="1450" dirty="0"/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Team:</a:t>
            </a: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</a:t>
            </a: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Pallikonda Hannsika </a:t>
            </a:r>
            <a:endParaRPr lang="en-US" sz="1450" dirty="0"/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             Sai Kirthana Konduru</a:t>
            </a:r>
            <a:endParaRPr lang="en-US" sz="1450" dirty="0"/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             Dongeshwar Sudhiksha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Guide: Rajshekhar G.S</a:t>
            </a:r>
            <a:endParaRPr lang="en-US" sz="1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6A78D-5095-A0BF-60C7-B6E0FAEB971D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6820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Presentation Outline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183128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136577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281833"/>
            <a:ext cx="3496877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Introduction &amp; Problem Statement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347359" y="183128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02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136577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8" name="Text 6"/>
          <p:cNvSpPr/>
          <p:nvPr/>
        </p:nvSpPr>
        <p:spPr>
          <a:xfrm>
            <a:off x="4347359" y="2281833"/>
            <a:ext cx="349687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Objectives &amp; Scope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33244" y="183128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136577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1" name="Text 9"/>
          <p:cNvSpPr/>
          <p:nvPr/>
        </p:nvSpPr>
        <p:spPr>
          <a:xfrm>
            <a:off x="8033244" y="2281833"/>
            <a:ext cx="349687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Existing vs. Proposed System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1475" y="3318966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04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3624263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769519"/>
            <a:ext cx="349687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347359" y="3318966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47359" y="3624263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7" name="Text 15"/>
          <p:cNvSpPr/>
          <p:nvPr/>
        </p:nvSpPr>
        <p:spPr>
          <a:xfrm>
            <a:off x="4347359" y="3769519"/>
            <a:ext cx="3496877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Technologies &amp; Requirements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033244" y="3318966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06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33244" y="3624263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20" name="Text 18"/>
          <p:cNvSpPr/>
          <p:nvPr/>
        </p:nvSpPr>
        <p:spPr>
          <a:xfrm>
            <a:off x="8033244" y="3769519"/>
            <a:ext cx="3496877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Modules, UML &amp; Database Design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61475" y="4806652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07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475" y="5111948"/>
            <a:ext cx="5339820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257205"/>
            <a:ext cx="533982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Screenshots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190301" y="4806652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1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08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90301" y="5111948"/>
            <a:ext cx="5339820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26" name="Text 24"/>
          <p:cNvSpPr/>
          <p:nvPr/>
        </p:nvSpPr>
        <p:spPr>
          <a:xfrm>
            <a:off x="6190301" y="5257205"/>
            <a:ext cx="533982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Advantages, Future Scope &amp; Conclusion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190301" y="5723830"/>
            <a:ext cx="533982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1BC7C9-1C3E-E9AB-3597-BEC9F9B5AC66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8" y="1081385"/>
            <a:ext cx="3521285" cy="46952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715764"/>
            <a:ext cx="6296860" cy="63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850" kern="0" spc="-39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What is EMI &amp; The Problem</a:t>
            </a:r>
            <a:endParaRPr lang="en-US" sz="38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1581051"/>
            <a:ext cx="6296860" cy="14183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498665" y="1770162"/>
            <a:ext cx="584244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EMI Defined</a:t>
            </a:r>
            <a:endParaRPr lang="en-US" sz="1900" dirty="0"/>
          </a:p>
        </p:txBody>
      </p:sp>
      <p:sp>
        <p:nvSpPr>
          <p:cNvPr id="7" name="Text 2"/>
          <p:cNvSpPr/>
          <p:nvPr/>
        </p:nvSpPr>
        <p:spPr>
          <a:xfrm>
            <a:off x="5498665" y="2179836"/>
            <a:ext cx="5842449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Equated Monthly Installment</a:t>
            </a: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 fixed payment schedule that allows customers to purchase products over time without full upfront cost.</a:t>
            </a:r>
            <a:endParaRPr lang="en-US" sz="1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3152477"/>
            <a:ext cx="6296860" cy="141833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498665" y="3341588"/>
            <a:ext cx="584244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Traditional Issues</a:t>
            </a:r>
            <a:endParaRPr lang="en-US" sz="1900" dirty="0"/>
          </a:p>
        </p:txBody>
      </p:sp>
      <p:sp>
        <p:nvSpPr>
          <p:cNvPr id="10" name="Text 4"/>
          <p:cNvSpPr/>
          <p:nvPr/>
        </p:nvSpPr>
        <p:spPr>
          <a:xfrm>
            <a:off x="5498665" y="3751263"/>
            <a:ext cx="5842449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Credit card dependency, high interest charges, and </a:t>
            </a: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manual verification delays</a:t>
            </a: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create friction for millions of users seeking affordable finance options.</a:t>
            </a:r>
            <a:endParaRPr lang="en-US" sz="1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723904"/>
            <a:ext cx="6296860" cy="14183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498665" y="4913015"/>
            <a:ext cx="5842449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13" name="Text 6"/>
          <p:cNvSpPr/>
          <p:nvPr/>
        </p:nvSpPr>
        <p:spPr>
          <a:xfrm>
            <a:off x="5498665" y="5322689"/>
            <a:ext cx="5842449" cy="6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</a:t>
            </a: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zero-cost EMI platform</a:t>
            </a: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automated verification, real-time tracking, and a robust microservices architecture — removing barriers to digital finance.</a:t>
            </a:r>
            <a:endParaRPr lang="en-US" sz="1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A347F-E41C-9C96-C027-D21CF176614D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216"/>
            <a:ext cx="10868745" cy="63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850" kern="0" spc="-39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Problem Statement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271117"/>
            <a:ext cx="3180774" cy="318085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0825" y="1630412"/>
            <a:ext cx="255085" cy="2550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69763" y="1619746"/>
            <a:ext cx="636670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Credit Card Dependency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169763" y="2090737"/>
            <a:ext cx="636670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Limits accessibility — many users are excluded from EMI schemes without a credit card.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0825" y="2827883"/>
            <a:ext cx="255085" cy="2550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69763" y="2817217"/>
            <a:ext cx="636670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High Interest Charges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5169763" y="3288209"/>
            <a:ext cx="636670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Traditional finance charges inflate product costs significantly for end consumers.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0825" y="4025354"/>
            <a:ext cx="255085" cy="2550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69763" y="4014688"/>
            <a:ext cx="636670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Manual Verification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5169763" y="4485680"/>
            <a:ext cx="636670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Time-consuming, error-prone processes delay approvals and frustrate applicants.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0825" y="5222825"/>
            <a:ext cx="255085" cy="25509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69763" y="5212159"/>
            <a:ext cx="636670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 Centralized System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5169763" y="5683151"/>
            <a:ext cx="636670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of real-time payment tracking and unified credit limit management for users and admins.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DD92CD-3A88-1949-8C2E-A1E5B2F33885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2930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Aim &amp; Objectives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47391"/>
            <a:ext cx="1117572" cy="111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501231"/>
            <a:ext cx="2539936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Scalable EMI Platform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61475" y="4321076"/>
            <a:ext cx="2539936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a secure, zero-cost EMI management system that eliminates traditional finance barriers through digital innovation.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147391"/>
            <a:ext cx="1117572" cy="1117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501231"/>
            <a:ext cx="2540036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Digital Registration &amp; Auth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3437645" y="4321076"/>
            <a:ext cx="2540036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user onboarding with secure authentication, automated card activation, and role-based access control.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147391"/>
            <a:ext cx="1117572" cy="1117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501231"/>
            <a:ext cx="254003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Payment Tracking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6213915" y="3967857"/>
            <a:ext cx="2540036" cy="122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transaction history, intelligent credit limit management, and flexible EMI calculation engine.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147391"/>
            <a:ext cx="1117572" cy="1117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501231"/>
            <a:ext cx="2540036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Product &amp; Admin Control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8990184" y="4321076"/>
            <a:ext cx="2540036" cy="1473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Efficient admin verification workflows, real-time product management, and inventory control for administrators.</a:t>
            </a:r>
            <a:endParaRPr lang="en-US" sz="14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C58E6-8B6C-B59B-3743-D2F6CFC16ADD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6410"/>
            <a:ext cx="10868745" cy="60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00" kern="0" spc="-36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Existing System vs. Proposed System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05260"/>
            <a:ext cx="4452628" cy="4452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149" y="2689225"/>
            <a:ext cx="5238421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Why Microservices?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298149" y="3125986"/>
            <a:ext cx="5238421" cy="772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proposed architecture decomposes the monolith into </a:t>
            </a:r>
            <a:r>
              <a:rPr lang="en-US" sz="12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independent, scalable services</a:t>
            </a: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each business function (User, Product, EMI, Admin) operates autonomously, enabling faster deployments and fault isolation.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298149" y="4051895"/>
            <a:ext cx="5238421" cy="905073"/>
          </a:xfrm>
          <a:prstGeom prst="roundRect">
            <a:avLst>
              <a:gd name="adj" fmla="val 7456"/>
            </a:avLst>
          </a:prstGeom>
          <a:solidFill>
            <a:srgbClr val="FFE0C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781" y="4264422"/>
            <a:ext cx="200814" cy="160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0225" y="4214813"/>
            <a:ext cx="4555713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microservice can be scaled independently based on real-time demand — a key advantage over legacy monolithic systems.</a:t>
            </a:r>
            <a:endParaRPr lang="en-US" sz="12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D71CC2-37BD-408B-1AF4-99088817ED84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8310"/>
            <a:ext cx="10868745" cy="60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00" kern="0" spc="-36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Architecture Diagram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636" y="1481832"/>
            <a:ext cx="9238424" cy="4228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43810" y="2008056"/>
            <a:ext cx="2252529" cy="30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Microservices &amp; Data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243810" y="2386136"/>
            <a:ext cx="2252529" cy="37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User, Product, EMI, Admin, MySQL, Eureka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695125" y="3397756"/>
            <a:ext cx="2070874" cy="30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API Gateway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695125" y="3775837"/>
            <a:ext cx="2070874" cy="37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 router and single entry point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43810" y="4209834"/>
            <a:ext cx="2252529" cy="30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Frontend UI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243810" y="4587914"/>
            <a:ext cx="2252529" cy="18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Angular web client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1475" y="5863431"/>
            <a:ext cx="10868745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12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API Gateway</a:t>
            </a: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acts as the single entry point, routing client requests to the appropriate microservice. </a:t>
            </a:r>
            <a:r>
              <a:rPr lang="en-US" sz="12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Eureka Discovery Server</a:t>
            </a: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enables dynamic service registration and load balancing across all backend services.</a:t>
            </a:r>
            <a:endParaRPr lang="en-US" sz="12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CE7785-2098-A876-D79A-091457264ED8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8" y="1081385"/>
            <a:ext cx="3521285" cy="46952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75766"/>
            <a:ext cx="6296860" cy="127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850" kern="0" spc="-39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Technologies &amp; Requirements</a:t>
            </a:r>
            <a:endParaRPr lang="en-US" sz="3850" dirty="0"/>
          </a:p>
        </p:txBody>
      </p:sp>
      <p:sp>
        <p:nvSpPr>
          <p:cNvPr id="5" name="Shape 1"/>
          <p:cNvSpPr/>
          <p:nvPr/>
        </p:nvSpPr>
        <p:spPr>
          <a:xfrm>
            <a:off x="5233360" y="2076748"/>
            <a:ext cx="3071835" cy="2263080"/>
          </a:xfrm>
          <a:prstGeom prst="roundRect">
            <a:avLst>
              <a:gd name="adj" fmla="val 3157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22467" y="2265859"/>
            <a:ext cx="2693622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Backend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5422467" y="2675533"/>
            <a:ext cx="2693622" cy="147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 17 (LTS)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Spring Boot 3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Spring Data JPA &amp; Hibernate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Spring MVC &amp; REST APIs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Lombok &amp; Validation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458286" y="2076748"/>
            <a:ext cx="3071934" cy="2263080"/>
          </a:xfrm>
          <a:prstGeom prst="roundRect">
            <a:avLst>
              <a:gd name="adj" fmla="val 3157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47392" y="2265859"/>
            <a:ext cx="2693722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Frontend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8647392" y="2675533"/>
            <a:ext cx="2693722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Angular Framework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HTML, CSS &amp; Bootstrap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Responsive UI Design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233360" y="4492923"/>
            <a:ext cx="6296860" cy="1789212"/>
          </a:xfrm>
          <a:prstGeom prst="roundRect">
            <a:avLst>
              <a:gd name="adj" fmla="val 3993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22467" y="4682034"/>
            <a:ext cx="5918647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Database &amp; Tools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422467" y="5091708"/>
            <a:ext cx="5918647" cy="100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MySQL (Relational DB)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HeidiSQL (DB Manager)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Postman (API Testing)</a:t>
            </a:r>
            <a:endParaRPr lang="en-US" sz="1300" dirty="0"/>
          </a:p>
          <a:p>
            <a:pPr marL="264160" indent="-264160" algn="l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Maven &amp; Git/GitHub</a:t>
            </a:r>
            <a:endParaRPr lang="en-US" sz="13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E28DD5-305C-9820-C88E-8A916FB65EF9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682"/>
            <a:ext cx="10868745" cy="591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550" kern="0" spc="-36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Modules &amp; Key Functionalities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391345"/>
            <a:ext cx="5368195" cy="15554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26910" y="1483916"/>
            <a:ext cx="23722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8675" y="2017117"/>
            <a:ext cx="5013795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User Module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38675" y="2391966"/>
            <a:ext cx="5013795" cy="37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registration, secure login, profile management, and EMI card application with document upload.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1926" y="1391345"/>
            <a:ext cx="5368295" cy="15554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27460" y="1483916"/>
            <a:ext cx="23722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339126" y="2017117"/>
            <a:ext cx="5013894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Product Module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6339126" y="2391966"/>
            <a:ext cx="5013894" cy="37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Browse product catalog, real-time inventory control, product categorization, and purchase initiation.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79055"/>
            <a:ext cx="5368195" cy="15554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26910" y="3171627"/>
            <a:ext cx="23722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8675" y="3704828"/>
            <a:ext cx="5013795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Finance Module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38675" y="4079677"/>
            <a:ext cx="5013795" cy="37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Zero-cost EMI calculation, flexible tenure selection, payment scheduling, and transaction history tracking.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1926" y="3079055"/>
            <a:ext cx="5368295" cy="15554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27460" y="3171627"/>
            <a:ext cx="23722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6339126" y="3704828"/>
            <a:ext cx="5013894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Admin Module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6339126" y="4079677"/>
            <a:ext cx="5013894" cy="37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 user applications, activate/deactivate EMI cards, manage credit limits, and oversee all transactions.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66766"/>
            <a:ext cx="5368195" cy="15554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226910" y="4859338"/>
            <a:ext cx="23722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</a:t>
            </a:r>
            <a:endParaRPr lang="en-US" sz="1850" dirty="0"/>
          </a:p>
        </p:txBody>
      </p:sp>
      <p:sp>
        <p:nvSpPr>
          <p:cNvPr id="21" name="Text 14"/>
          <p:cNvSpPr/>
          <p:nvPr/>
        </p:nvSpPr>
        <p:spPr>
          <a:xfrm>
            <a:off x="838675" y="5392539"/>
            <a:ext cx="5013795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Eureka Server Module</a:t>
            </a:r>
            <a:endParaRPr lang="en-US" sz="1750" dirty="0"/>
          </a:p>
        </p:txBody>
      </p:sp>
      <p:sp>
        <p:nvSpPr>
          <p:cNvPr id="22" name="Text 15"/>
          <p:cNvSpPr/>
          <p:nvPr/>
        </p:nvSpPr>
        <p:spPr>
          <a:xfrm>
            <a:off x="838675" y="5767388"/>
            <a:ext cx="5013795" cy="37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Dynamic service registration, service discovery, and load balancing across microservices.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1926" y="4766766"/>
            <a:ext cx="5368295" cy="155545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727460" y="4859338"/>
            <a:ext cx="23722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</a:t>
            </a:r>
            <a:endParaRPr lang="en-US" sz="1850" dirty="0"/>
          </a:p>
        </p:txBody>
      </p:sp>
      <p:sp>
        <p:nvSpPr>
          <p:cNvPr id="25" name="Text 17"/>
          <p:cNvSpPr/>
          <p:nvPr/>
        </p:nvSpPr>
        <p:spPr>
          <a:xfrm>
            <a:off x="6339126" y="5392539"/>
            <a:ext cx="5013894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API Gateway Module</a:t>
            </a:r>
            <a:endParaRPr lang="en-US" sz="1750" dirty="0"/>
          </a:p>
        </p:txBody>
      </p:sp>
      <p:sp>
        <p:nvSpPr>
          <p:cNvPr id="26" name="Text 18"/>
          <p:cNvSpPr/>
          <p:nvPr/>
        </p:nvSpPr>
        <p:spPr>
          <a:xfrm>
            <a:off x="6339126" y="5767388"/>
            <a:ext cx="5013894" cy="37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entry point for all client requests, request routing, authentication, and rate limiting.</a:t>
            </a:r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44A80A-88CD-DBA2-6D05-1588018D18D0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084"/>
            <a:ext cx="10868745" cy="5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kern="0" spc="-32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UML - Sequence Diagram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275654"/>
            <a:ext cx="9897035" cy="51699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49070"/>
            <a:ext cx="1086874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5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31A7-A986-5CA0-178A-20A3F4458605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864" y="233339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Screenshots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2796977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FEE08D-C4D1-22D8-A71D-B06FC199C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01270"/>
            <a:ext cx="10471092" cy="509570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3883AFF-A232-5BB9-9D0D-8A2A681E8AE0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9FDF3F-3C61-D14F-B538-81083A286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718"/>
            <a:ext cx="12192000" cy="58745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A4FAC90-67E0-95EE-7631-B45C2AD7386E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39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B9234F-E962-027F-FA36-AC7F243D9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9839"/>
            <a:ext cx="12192000" cy="59183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D62A58-C26B-B2A6-3968-0EF8D822F053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843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57C0CB-217D-E434-EA42-F70860B11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078"/>
            <a:ext cx="12192000" cy="60138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8268789-28FE-08FE-274E-96AE92D63980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901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513F19-0CDD-CFE4-3F81-1F63A099E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93" y="914860"/>
            <a:ext cx="4076660" cy="44818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E39B07-D510-39E2-1E4C-B1EF34686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701" y="914860"/>
            <a:ext cx="3122969" cy="40228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4979DE-FB89-9E92-FE8E-BCD814B3B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267" y="1030941"/>
            <a:ext cx="3285640" cy="39067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AB4DA7-ECE7-2B92-B223-6C9F48E32C32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881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D5E885-3F1E-A0D8-1E7A-E85E8E165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7156"/>
            <a:ext cx="12192000" cy="59236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F517ACE-6CA7-E522-0FB7-ADB37C740EB5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785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E77F17-F29F-EE97-42C6-F76880E59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436"/>
            <a:ext cx="12192000" cy="59071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C94D46F-4DDE-8043-88A0-99A59DFBC895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287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BCC2D8-5831-2E30-DE5E-65E99C36C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267"/>
            <a:ext cx="12192000" cy="58974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302011-A637-9773-7355-8A5FF55597A3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110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2" y="1071265"/>
            <a:ext cx="3536365" cy="471537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43421"/>
            <a:ext cx="629686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kern="0" spc="-34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Advantages, Future Scope &amp; Conclusion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5233360" y="1976041"/>
            <a:ext cx="2963987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Advantages</a:t>
            </a:r>
            <a:endParaRPr lang="en-US" sz="17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4311" y="2375595"/>
            <a:ext cx="2983036" cy="9723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22665" y="2394645"/>
            <a:ext cx="2774682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Zero-Cost EMI</a:t>
            </a:r>
            <a:endParaRPr lang="en-US" sz="1700" dirty="0"/>
          </a:p>
        </p:txBody>
      </p:sp>
      <p:sp>
        <p:nvSpPr>
          <p:cNvPr id="8" name="Text 3"/>
          <p:cNvSpPr/>
          <p:nvPr/>
        </p:nvSpPr>
        <p:spPr>
          <a:xfrm>
            <a:off x="5422665" y="2798167"/>
            <a:ext cx="2774682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hidden charges — genuine zero-interest installment plans for all eligible users.</a:t>
            </a:r>
            <a:endParaRPr lang="en-US" sz="11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4311" y="3551734"/>
            <a:ext cx="2983036" cy="97234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22665" y="3570784"/>
            <a:ext cx="2774682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High Scalability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>
            <a:off x="5422665" y="3974306"/>
            <a:ext cx="2774682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Microservices architecture scales each component independently under load.</a:t>
            </a:r>
            <a:endParaRPr lang="en-US" sz="11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4311" y="4727873"/>
            <a:ext cx="2983036" cy="9723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22665" y="4746923"/>
            <a:ext cx="2774682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Automated Workflows</a:t>
            </a:r>
            <a:endParaRPr lang="en-US" sz="1700" dirty="0"/>
          </a:p>
        </p:txBody>
      </p:sp>
      <p:sp>
        <p:nvSpPr>
          <p:cNvPr id="14" name="Text 7"/>
          <p:cNvSpPr/>
          <p:nvPr/>
        </p:nvSpPr>
        <p:spPr>
          <a:xfrm>
            <a:off x="5422665" y="5150445"/>
            <a:ext cx="2774682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Eliminates manual paperwork; approvals and notifications are fully automated.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8572583" y="1976041"/>
            <a:ext cx="2963987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8572583" y="2379563"/>
            <a:ext cx="2963987" cy="1542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credit scoring &amp; risk assessment</a:t>
            </a:r>
            <a:endParaRPr lang="en-US" sz="1150" dirty="0"/>
          </a:p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app (Android &amp; iOS) integration</a:t>
            </a:r>
            <a:endParaRPr lang="en-US" sz="1150" dirty="0"/>
          </a:p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Multi-bank partnership &amp; payment gateway support</a:t>
            </a:r>
            <a:endParaRPr lang="en-US" sz="1150" dirty="0"/>
          </a:p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analytics dashboard for admins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8572583" y="4042569"/>
            <a:ext cx="2963987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0" spc="-17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8572583" y="4446091"/>
            <a:ext cx="2963987" cy="1061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Finance Management System delivers a </a:t>
            </a:r>
            <a:r>
              <a:rPr lang="en-US" sz="11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modern, scalable, and accessible</a:t>
            </a: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EMI platform — bridging the gap between traditional finance limitations and the digital needs of today's users.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8572583" y="5643563"/>
            <a:ext cx="1641037" cy="229691"/>
          </a:xfrm>
          <a:prstGeom prst="roundRect">
            <a:avLst>
              <a:gd name="adj" fmla="val 22120"/>
            </a:avLst>
          </a:prstGeom>
          <a:solidFill>
            <a:srgbClr val="FFE0CC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3267" y="5697934"/>
            <a:ext cx="120945" cy="1209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844634" y="5688905"/>
            <a:ext cx="188788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CAPSTONE PROJECT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8572583" y="5948859"/>
            <a:ext cx="1815261" cy="229691"/>
          </a:xfrm>
          <a:prstGeom prst="roundRect">
            <a:avLst>
              <a:gd name="adj" fmla="val 22120"/>
            </a:avLst>
          </a:prstGeom>
          <a:noFill/>
          <a:ln w="12700">
            <a:solidFill>
              <a:srgbClr val="FF954F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8663267" y="5994202"/>
            <a:ext cx="224347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SPRING BOOT &amp; ANGULAR</a:t>
            </a:r>
            <a:endParaRPr lang="en-US" sz="9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C9A537-B08B-5A24-882E-730637675A47}"/>
              </a:ext>
            </a:extLst>
          </p:cNvPr>
          <p:cNvSpPr/>
          <p:nvPr/>
        </p:nvSpPr>
        <p:spPr>
          <a:xfrm>
            <a:off x="11071412" y="6508376"/>
            <a:ext cx="1039906" cy="349624"/>
          </a:xfrm>
          <a:prstGeom prst="rect">
            <a:avLst/>
          </a:prstGeom>
          <a:solidFill>
            <a:srgbClr val="FDFCF1"/>
          </a:solidFill>
          <a:ln>
            <a:solidFill>
              <a:srgbClr val="FD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727</Words>
  <Application>Microsoft Office PowerPoint</Application>
  <PresentationFormat>Widescreen</PresentationFormat>
  <Paragraphs>126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Montserrat</vt:lpstr>
      <vt:lpstr>Marcellus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DONGESHWAR SUDHIKSHA</cp:lastModifiedBy>
  <cp:revision>2</cp:revision>
  <dcterms:created xsi:type="dcterms:W3CDTF">2026-08-06T09:46:09Z</dcterms:created>
  <dcterms:modified xsi:type="dcterms:W3CDTF">2026-08-06T09:59:02Z</dcterms:modified>
</cp:coreProperties>
</file>